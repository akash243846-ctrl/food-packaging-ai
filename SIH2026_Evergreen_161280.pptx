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183D78"/>
                </a:solidFill>
              </a:defRPr>
            </a:pPr>
            <a:r>
              <a:t>SMART INDIA HACKATHON 2026</a:t>
            </a:r>
          </a:p>
          <a:p>
            <a:pPr algn="ctr">
              <a:defRPr b="1" sz="2400">
                <a:solidFill>
                  <a:srgbClr val="0F172A"/>
                </a:solidFill>
              </a:defRPr>
            </a:pPr>
            <a:r>
              <a:t>TITLE PAGE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685800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Problem Statement ID – </a:t>
            </a:r>
            <a:r>
              <a:rPr b="0" sz="1400">
                <a:solidFill>
                  <a:srgbClr val="1E293B"/>
                </a:solidFill>
              </a:rPr>
              <a:t>SIH26236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Problem Statement Title – </a:t>
            </a:r>
            <a:r>
              <a:rPr b="0" sz="1400">
                <a:solidFill>
                  <a:srgbClr val="1E293B"/>
                </a:solidFill>
              </a:rPr>
              <a:t>AI-Based Intelligent Food Packaging Material Recommendation System for Food Commodities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Theme – </a:t>
            </a:r>
            <a:r>
              <a:rPr b="0" sz="1400">
                <a:solidFill>
                  <a:srgbClr val="1E293B"/>
                </a:solidFill>
              </a:rPr>
              <a:t>Agriculture, FoodTech &amp; Rural Development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PS Category – </a:t>
            </a:r>
            <a:r>
              <a:rPr b="0" sz="1400">
                <a:solidFill>
                  <a:srgbClr val="1E293B"/>
                </a:solidFill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Team ID – </a:t>
            </a:r>
            <a:r>
              <a:rPr b="1" sz="1400">
                <a:solidFill>
                  <a:srgbClr val="10B981"/>
                </a:solidFill>
              </a:rPr>
              <a:t>161280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Team Name (Registered on portal) – </a:t>
            </a:r>
            <a:r>
              <a:rPr b="1" sz="1400">
                <a:solidFill>
                  <a:srgbClr val="10B981"/>
                </a:solidFill>
              </a:rPr>
              <a:t>Evergreen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20040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83D78"/>
                </a:solidFill>
              </a:defRPr>
            </a:pPr>
            <a:br/>
            <a:br/>
            <a:r>
              <a:t>💡</a:t>
            </a:r>
            <a:br/>
            <a:r>
              <a:t>SIH 2026</a:t>
            </a:r>
            <a:br/>
            <a:br/>
            <a:r>
              <a:t>TEAM EVERGREEN</a:t>
            </a:r>
            <a:br/>
            <a:r>
              <a:t>ID: 161280</a:t>
            </a:r>
            <a:br/>
            <a:br/>
            <a:r>
              <a:t>PackWise AI / PackSmart</a:t>
            </a:r>
            <a:br/>
            <a:r>
              <a:t>Intelligent Decision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Evergreen</a:t>
            </a:r>
          </a:p>
          <a:p>
            <a:pPr algn="ctr">
              <a:defRPr b="1" sz="1200">
                <a:solidFill>
                  <a:srgbClr val="1E293B"/>
                </a:solidFill>
              </a:defRPr>
            </a:pPr>
            <a:r>
              <a:t>Team 161280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83D78"/>
                </a:solidFill>
              </a:defRPr>
            </a:pPr>
            <a:r>
              <a:t>PACKWISE AI — PROPOSED SOLUTION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AI-Based Intelligent Food Packaging Material Recommendation System • PS SIH26236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320040"/>
            <a:ext cx="1554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594360"/>
          </a:xfrm>
          <a:prstGeom prst="roundRect">
            <a:avLst/>
          </a:prstGeom>
          <a:solidFill>
            <a:srgbClr val="183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PACKWISE AI — Physics-informed hybrid AI platform matching 100+ Indian food commodities &amp; storage physics with 31 barrier polymers.</a:t>
            </a:r>
            <a:br/>
            <a:r>
              <a:t>✓ Explainable • ✓ Source-traced • ✓ Respiration &amp; MAP aware • ✓ Edge AI Vision &amp; Voice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100+ Indian Commodities DB (FDC+ICAR)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920240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Mass-Transfer &amp; Respiration Physics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Dynamic Storage &amp; Transit Logistics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920240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31 Polymers &amp; Bio-Resins Catalog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04288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TOPSIS Multi-Criteria Ranking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04288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Dynamic Barrier Needs (OTR / WVTR)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304288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MAP Equilibrium Solver (O2 / CO2)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304288"/>
            <a:ext cx="2743200" cy="329184"/>
          </a:xfrm>
          <a:prstGeom prst="roundRect">
            <a:avLst/>
          </a:prstGeom>
          <a:solidFill>
            <a:srgbClr val="F8FAFC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0F172A"/>
                </a:solidFill>
              </a:defRPr>
            </a:pPr>
            <a:r>
              <a:t>Explainable Report, FSSAI Pass &amp; QR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❖ How it addresses the problem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Perishable crop devastation — India suffers ~30% post-harvest spoilage (₹1.52 Lakh Cr loss) due to unvented polybags and condensation rot.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One pack can't fit all — Moisture sorption, fat oxidation, and respiration rates differ fundamentally across commodities; mismatched films cause premature spoilage.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Selection is expert-dependent &amp; slow — Fragmented offline knowledge, arbitrary polymer thickness, and high trial-and-error laboratory costs.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Ground-level stakeholders struggle — Smallholder farmers, FPOs &amp; food MSMEs lack packaging scientists and need instant guidance in their native language.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</a:defRPr>
            </a:pPr>
            <a:r>
              <a:t>• Unified physics + regulatory decision core — Integrates food composition, crop biology, polymer barrier physics, and FSSAI/BIS rules into one automated engine.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20"/>
            <a:ext cx="11277295" cy="4572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SOLUTION PIPELINE: Food Intake (100+ Crops) ➔ Property Analysis (aw, pH, Lipids) ➔ Risk Analysis (Respiration &amp; O2) ➔ Compatibility (31 Polymers) ➔ TOPSIS Ranking ➔ Explained Result (3D Lab + QR)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60"/>
            <a:ext cx="21945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1. EXPLAINABLE AI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Transparent mathematical justification (TOPSIS Closeness Ci*) with statutory FSSAI citations &amp; Gemini Flash reasoning.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4709160"/>
            <a:ext cx="21945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2. MASS-TRANSFER PHYSICS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Tetens vapor pressure equation + Arrhenius respiration kinetics for dynamic anaerobic hazard alerts.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92624" y="4709160"/>
            <a:ext cx="219456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3. 3D PACKAGING LAB &amp; HUD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Interactive Three.js WebGL multi-layer digital twin with layer exploding + Quantum 3D cards &amp; 50-frame storyboard.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4709160"/>
            <a:ext cx="2194560" cy="1828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4. SOURCE TRACEABILITY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Strict data discipline: FSSAI, APEDA, BIS, ICAR &amp; USDA FDC — zero fabricated synthetic values.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4709160"/>
            <a:ext cx="219456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5. AASAAN VOICE + AI VISION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Bilingual Hindi/English voice assistant (Vaani AI) + Real-time Edge YOLOv8 &amp; NVIDIA NIM camera crop scanner + batch QR pass.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Evergreen</a:t>
            </a:r>
          </a:p>
          <a:p>
            <a:pPr algn="ctr">
              <a:defRPr b="1" sz="1200">
                <a:solidFill>
                  <a:srgbClr val="1E293B"/>
                </a:solidFill>
              </a:defRPr>
            </a:pPr>
            <a:r>
              <a:t>Team 161280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83D78"/>
                </a:solidFill>
              </a:defRPr>
            </a:pPr>
            <a:r>
              <a:t>TECHNICAL APPROACH &amp; ARCHITECTURE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AI-Based Intelligent Food Packaging Material Recommendation System • PS SIH26236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320040"/>
            <a:ext cx="1554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2743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FRONTEND TECH STACK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Languages: HTML5, CSS3, JS, TypeScript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Framework: React 19, Vite (Instant HMR), Tailwind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3D Digital Twin: Three.js WebGL (Interactive Film Lab)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Quantum 3D HUD: CSS3D Perspective cards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Storyboard: 50-Frame visual narrative sequence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Sensory UI: Web Speech API (Voice AI), WebRTC Camera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234440"/>
            <a:ext cx="2743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BACKEND &amp; DATABASE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Core Runtime: Python 3.12 (High-Performance Async)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API Framework: FastAPI (RESTful, Auto-Docs, CORS)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Server &amp; Engine: Uvicorn ASGI, Pydantic v2, SQLAlchemy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Database: SQLite (Offline Local) / PostgreSQL Cloud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Zero-Config Offline Resilience: Client-side engine fallback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Modular Routers: /optimize, /recommend, /detect, /scans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2743200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AI &amp; MACHINE LEARNING (NEW)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YOLOv8n Edge Neural Net: ONNX/OpenCV 12ms 60FPS local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NVIDIA NIM Llama-3.2 Vision: GPU multimodal detector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Gemini 3.8/1.5 Flash: FSSAI explainability &amp; reasoning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NumPy Vectorized TOPSIS: MCDM cost-eco-barrier rank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Vaani Voice AI Copilot: Bilingual Hindi &amp; English STT/TTS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FSSAI Gazette Rules Engine: Statutory 2018/2022 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234440"/>
            <a:ext cx="2743200" cy="2057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83D78"/>
                </a:solidFill>
              </a:defRPr>
            </a:pPr>
            <a:r>
              <a:t>PHYSICS &amp; KINETIC MODELS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Tetens Formula: Psat(T)=0.61078*exp(17.27T/(T+237.3))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WVTR Flux: Vapor transmission &amp; dry shelf-life decay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Michaelis-Menten: Dynamic O2 &amp; CO2 respiration rates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Arrhenius Kinetics: Temperature buffer (+5°C transit safety)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MAP Solver: Laser micro-perforation gas equilibrium</a:t>
            </a:r>
          </a:p>
          <a:p>
            <a:pPr>
              <a:spcAft>
                <a:spcPts val="100"/>
              </a:spcAft>
              <a:defRPr sz="800">
                <a:solidFill>
                  <a:srgbClr val="1E293B"/>
                </a:solidFill>
              </a:defRPr>
            </a:pPr>
            <a:r>
              <a:t>• Defect Warning: Automated anaerobic hazard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54864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183D78"/>
                </a:solidFill>
              </a:defRPr>
            </a:pPr>
            <a:r>
              <a:t>OPERATIONAL METHODOLOGY PIPELINE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</a:defRPr>
            </a:pPr>
            <a:r>
              <a:t>1. Crop Intake &amp; Profiling: Input via Hindi Voice or Camera (YOLOv8/NVIDIA NIM); extract moisture, aw, pH, lipids &amp; respiration.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</a:defRPr>
            </a:pPr>
            <a:r>
              <a:t>2. Physics &amp; Respiration Modeling: Tetens equation calculates Psat(T); Michaelis-Menten &amp; Arrhenius model O2/CO2 with +5°C safety buffer.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</a:defRPr>
            </a:pPr>
            <a:r>
              <a:t>3. Barrier Solving: Computes target OTR &amp; WVTR bounds; filters 31 food-grade barrier polymers &amp; bio-resins.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</a:defRPr>
            </a:pPr>
            <a:r>
              <a:t>4. TOPSIS MCDM: Vector-normalized ranking balances Shelf-Life Extension (Max), Film Cost (Min), and Carbon Footprint (Min).</a:t>
            </a:r>
          </a:p>
          <a:p>
            <a:pPr>
              <a:spcAft>
                <a:spcPts val="200"/>
              </a:spcAft>
              <a:defRPr sz="780">
                <a:solidFill>
                  <a:srgbClr val="1E293B"/>
                </a:solidFill>
              </a:defRPr>
            </a:pPr>
            <a:r>
              <a:t>5. Regulatory Audit &amp; 3D Deliverable: Verifies FSSAI 2018 (IS 9845) migration; renders Three.js 3D pack and batch QR pass.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383280"/>
            <a:ext cx="5608015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183D78"/>
                </a:solidFill>
              </a:defRPr>
            </a:pPr>
            <a:r>
              <a:t>INTELLIGENT MULTI-LAYER FOOD PACKAGING ARCHITECTURE</a:t>
            </a:r>
          </a:p>
          <a:p>
            <a:pPr>
              <a:spcAft>
                <a:spcPts val="200"/>
              </a:spcAft>
              <a:defRPr sz="819">
                <a:solidFill>
                  <a:srgbClr val="1E293B"/>
                </a:solidFill>
              </a:defRPr>
            </a:pPr>
            <a:r>
              <a:t>• Outer Layer: BOPET (12 µm) ➔ Mechanical puncture resistance &amp; printable surface</a:t>
            </a:r>
          </a:p>
          <a:p>
            <a:pPr>
              <a:spcAft>
                <a:spcPts val="200"/>
              </a:spcAft>
              <a:defRPr sz="819">
                <a:solidFill>
                  <a:srgbClr val="1E293B"/>
                </a:solidFill>
              </a:defRPr>
            </a:pPr>
            <a:r>
              <a:t>• Tie Layer: Modified PE (3 µm) ➔ Inter-layer molecular bonding preventing delamination</a:t>
            </a:r>
          </a:p>
          <a:p>
            <a:pPr>
              <a:spcAft>
                <a:spcPts val="200"/>
              </a:spcAft>
              <a:defRPr sz="819">
                <a:solidFill>
                  <a:srgbClr val="1E293B"/>
                </a:solidFill>
              </a:defRPr>
            </a:pPr>
            <a:r>
              <a:t>• High Gas Barrier: EVOH Core (5 µm) ➔ Ultra-low OTR (&lt;1 cc/m²·day) • Prevents oxidation &amp; rancidity</a:t>
            </a:r>
          </a:p>
          <a:p>
            <a:pPr>
              <a:spcAft>
                <a:spcPts val="200"/>
              </a:spcAft>
              <a:defRPr sz="819">
                <a:solidFill>
                  <a:srgbClr val="1E293B"/>
                </a:solidFill>
              </a:defRPr>
            </a:pPr>
            <a:r>
              <a:t>• Tie Layer: Modified PE (3 µm) ➔ Inter-layer molecular bonding preventing delamination</a:t>
            </a:r>
          </a:p>
          <a:p>
            <a:pPr>
              <a:spcAft>
                <a:spcPts val="200"/>
              </a:spcAft>
              <a:defRPr sz="819">
                <a:solidFill>
                  <a:srgbClr val="1E293B"/>
                </a:solidFill>
              </a:defRPr>
            </a:pPr>
            <a:r>
              <a:t>• Hermetic Sealant: Metallocene LLDPE (50 µm) ➔ Moisture barrier (WVTR &lt;3 g/m²·day) • FSSAI Food Safe (IS 10146)</a:t>
            </a:r>
          </a:p>
          <a:p>
            <a:pPr>
              <a:spcAft>
                <a:spcPts val="200"/>
              </a:spcAft>
              <a:defRPr sz="819">
                <a:solidFill>
                  <a:srgbClr val="1E293B"/>
                </a:solidFill>
              </a:defRPr>
            </a:pPr>
            <a:r>
              <a:t>• MAP Gas Balance: Laser micro-perforations match respiration (RO2) to extend life by 200% - 300%.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77840"/>
            <a:ext cx="11277295" cy="9144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10B981"/>
                </a:solidFill>
              </a:defRPr>
            </a:pPr>
            <a:r>
              <a:t>SYSTEM ARCHITECTURE FLOW (END-TO-END MULTI-TIER CONNECTION)</a:t>
            </a:r>
          </a:p>
          <a:p>
            <a:pPr>
              <a:defRPr sz="800">
                <a:solidFill>
                  <a:srgbClr val="FFFFFF"/>
                </a:solidFill>
              </a:defRPr>
            </a:pPr>
            <a:r>
              <a:t>1. Client Layer: React 19 UI, Quantum 3D HUD, Vaani Voice AI, WebRTC YOLOv8/NVIDIA Scanner | 2. API Gateway: FastAPI Async Router, Pydantic v2 | 3. AI &amp; Physics: YOLOv8 ONNX, NVIDIA NIM Vision, NumPy TOPSIS, Tetens/Arrhenius Solver | 4. Data Layer: 100 Indian Crops (ICAR/USDA), 31 Polymers DB, FSSAI IS 9845 | 5. Delivery HUD: Three.js 3D Lab, MAP Solver, QR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Evergreen</a:t>
            </a:r>
          </a:p>
          <a:p>
            <a:pPr algn="ctr">
              <a:defRPr b="1" sz="1200">
                <a:solidFill>
                  <a:srgbClr val="1E293B"/>
                </a:solidFill>
              </a:defRPr>
            </a:pPr>
            <a:r>
              <a:t>Team 161280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83D78"/>
                </a:solidFill>
              </a:defRPr>
            </a:pPr>
            <a:r>
              <a:t>FEASIBILITY AND VIABILITY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AI-Based Intelligent Food Packaging Material Recommendation System • PS SIH26236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320040"/>
            <a:ext cx="1554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TECHNICAL FEASIBILITY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Modern, battle-tested full stack — React 19 + FastAPI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Sub-50ms execution latency for TOPSIS &amp; physics algorithms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12ms / 60 FPS real-time YOLOv8 edge vision inference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Modular, high-speed RESTful microservices architecture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Three.js WebGL &amp; Quantum 3D run smoothly on any browser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▸ 100% functional working prototype verified &amp; deployed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34440"/>
            <a:ext cx="36576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DATA RIGOR &amp; PROVENANCE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100 pre-calibrated commodities across 6 core food categories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Integrated official FSSAI • APEDA • BIS • ICAR-CIPHET standards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Complete provenance lineage kept for every single value &amp; equation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Strict zero synthetic/hallucinated data — fully explainable math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Gazette 2011/2018/2022 plastic &amp; heavy metal compliance rules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▸ Every rule, threshold &amp; barrier value traceable to Slide-6 sources.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34440"/>
            <a:ext cx="3657600" cy="2194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DEPLOYMENT &amp; SCALING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Fully functional cloud &amp; edge deployable prototype with offline mode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Zero proprietary hardware Capex needed (any smartphone or PC)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Stateless FastAPI containers scale horizontally with traffic load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Direct integration pathway with e-NAM digital mandis &amp; APEDA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✓ Zero-config client-side fallback runs without active server</a:t>
            </a:r>
          </a:p>
          <a:p>
            <a:pPr>
              <a:spcAft>
                <a:spcPts val="200"/>
              </a:spcAft>
              <a:defRPr sz="850">
                <a:solidFill>
                  <a:srgbClr val="1E293B"/>
                </a:solidFill>
              </a:defRPr>
            </a:pPr>
            <a:r>
              <a:t>▸ Built for immediate grassroots deployment across rural FPOs.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❖ Potential challenges and risks ➔ Strategies for overcoming these challenges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77639"/>
            <a:ext cx="11277295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80">
                <a:solidFill>
                  <a:srgbClr val="0F172A"/>
                </a:solidFill>
              </a:rPr>
              <a:t>1. Crop respiration &amp; moisture vary by harvest maturity ➔ </a:t>
            </a:r>
            <a:r>
              <a:rPr sz="880">
                <a:solidFill>
                  <a:srgbClr val="1E293B"/>
                </a:solidFill>
              </a:rPr>
              <a:t>Calibrated against ICAR &amp; UC Davis postharvest baselines; live sliders allow fine-tuning.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16552"/>
            <a:ext cx="11277295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80">
                <a:solidFill>
                  <a:srgbClr val="0F172A"/>
                </a:solidFill>
              </a:rPr>
              <a:t>2. Broken Indian rural cold-chain transit abuse ➔ </a:t>
            </a:r>
            <a:r>
              <a:rPr sz="880">
                <a:solidFill>
                  <a:srgbClr val="1E293B"/>
                </a:solidFill>
              </a:rPr>
              <a:t>Arrhenius kinetic engine factors in +5°C transit safety buffer to prevent premature spoilage.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55464"/>
            <a:ext cx="11277295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80">
                <a:solidFill>
                  <a:srgbClr val="0F172A"/>
                </a:solidFill>
              </a:rPr>
              <a:t>3. Material barrier variations across film suppliers ➔ </a:t>
            </a:r>
            <a:r>
              <a:rPr sz="880">
                <a:solidFill>
                  <a:srgbClr val="1E293B"/>
                </a:solidFill>
              </a:rPr>
              <a:t>Normalized ASTM/ISO testing metrics (OTR: ASTM D3985, WVTR: ASTM F1249) stored in DB.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94375"/>
            <a:ext cx="11277295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80">
                <a:solidFill>
                  <a:srgbClr val="0F172A"/>
                </a:solidFill>
              </a:rPr>
              <a:t>4. Complex Plastic Waste Management (PWM) Rules 2022 ➔ </a:t>
            </a:r>
            <a:r>
              <a:rPr sz="880">
                <a:solidFill>
                  <a:srgbClr val="1E293B"/>
                </a:solidFill>
              </a:rPr>
              <a:t>Automated regulatory audit checks FSSAI (IS 9845) migration and prioritizes compostable PLA/PHA.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733288"/>
            <a:ext cx="11277295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80">
                <a:solidFill>
                  <a:srgbClr val="0F172A"/>
                </a:solidFill>
              </a:rPr>
              <a:t>5. Rural digital literacy divide for grassroots farmers ➔ </a:t>
            </a:r>
            <a:r>
              <a:rPr sz="880">
                <a:solidFill>
                  <a:srgbClr val="1E293B"/>
                </a:solidFill>
              </a:rPr>
              <a:t>Aasaan Mode with native Hindi voice assistance (Vaani AI) and real-time camera crop recognition.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6217920"/>
            <a:ext cx="11277295" cy="4114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FFFFFF"/>
                </a:solidFill>
              </a:defRPr>
            </a:pPr>
            <a:r>
              <a:t>✓ Verdict: Fully feasible with modern web &amp; physics AI stack — validated working prototype ready for immediate pilot. • Risk: Low–Medium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Evergreen</a:t>
            </a:r>
          </a:p>
          <a:p>
            <a:pPr algn="ctr">
              <a:defRPr b="1" sz="1200">
                <a:solidFill>
                  <a:srgbClr val="1E293B"/>
                </a:solidFill>
              </a:defRPr>
            </a:pPr>
            <a:r>
              <a:t>Team 161280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83D78"/>
                </a:solidFill>
              </a:defRPr>
            </a:pPr>
            <a:r>
              <a:t>IMPACT AND BENEFITS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AI-Based Intelligent Food Packaging Material Recommendation System • PS SIH26236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320040"/>
            <a:ext cx="1554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41148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TARGET AUDIENCE: Farmers / Mandi FPOs | Food Processors | Agri-MSMEs | Packaging Designers | Exporters | Cold-Chain Logistics | Food Scientists | Govt Inspectors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1945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SOCIAL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Democratizes packaging science for grassroots farmers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Native Hindi/English voice AI bridges literacy barrier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Prevents distress sales during market glut via shelf-life gain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Protects smallholder farm incomes &amp; rural livelihoods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1783080"/>
            <a:ext cx="21945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ECONOMIC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Reduces post-harvest spoilage by 25% – 40% across transit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Mitigates India's annual ₹1.52 Lakh Crore food loss burden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Saves 12-20% resin cost via precision film down-gauging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Eliminates costly export consignment rejections at 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1783080"/>
            <a:ext cx="21945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AGRICULTURAL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Crop-wise preservation for 100 Indian commodities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Preserves fresh produce vitamins, firmness &amp; aroma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Enables long-distance rail/road freight without spoilage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Generates export-ready APEDA packaging compliance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783080"/>
            <a:ext cx="21945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ENVIRONMENT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Recommends compostable Bio-PLA, Bio-PBS &amp; PHA films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Accelerates transition to recyclable mono-material polyolefins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Fully aligns with Plastic Waste Management (PWM) Rules 2022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Minimizes methane emissions from rotting mandi landfill waste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28048" y="1783080"/>
            <a:ext cx="2194560" cy="3291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FOOD QUALITY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Optimal OTR/WVTR stops moisture pooling &amp; fungal rot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MAP gas equilibrium (O2/CO2) preserves crispness &amp; color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Prevents lipid oxidation and rancidity in high-fat foods</a:t>
            </a:r>
          </a:p>
          <a:p>
            <a:pPr>
              <a:spcBef>
                <a:spcPts val="400"/>
              </a:spcBef>
              <a:defRPr sz="819">
                <a:solidFill>
                  <a:srgbClr val="1E293B"/>
                </a:solidFill>
              </a:defRPr>
            </a:pPr>
            <a:r>
              <a:t>▸ Guarantees certified, safe &amp; hygienic produce for consumers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411480"/>
          </a:xfrm>
          <a:prstGeom prst="roundRect">
            <a:avLst/>
          </a:prstGeom>
          <a:solidFill>
            <a:srgbClr val="183D7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50">
                <a:solidFill>
                  <a:srgbClr val="FFFFFF"/>
                </a:solidFill>
              </a:defRPr>
            </a:pPr>
            <a:r>
              <a:t>ADOPTION PATHWAY: 1. PROTOTYPE (Functional Full-Stack) ➔ 2. PILOT (Selected Mandis &amp; FPOs) ➔ 3. VALIDATION (IIP &amp; Lab Trials) ➔ 4. SCALE-UP (National e-NAM / Cloud)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15000"/>
            <a:ext cx="27432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80">
                <a:solidFill>
                  <a:srgbClr val="0F172A"/>
                </a:solidFill>
              </a:defRPr>
            </a:pPr>
            <a:r>
              <a:t>Compare Recyclable &amp; Compostable Options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715000"/>
            <a:ext cx="27432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80">
                <a:solidFill>
                  <a:srgbClr val="0F172A"/>
                </a:solidFill>
              </a:defRPr>
            </a:pPr>
            <a:r>
              <a:t>Right-Size &amp; Down-Gauge Packs (Less Plastic)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5715000"/>
            <a:ext cx="27432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80">
                <a:solidFill>
                  <a:srgbClr val="0F172A"/>
                </a:solidFill>
              </a:defRPr>
            </a:pPr>
            <a:r>
              <a:t>Voice-First, Low-Literacy Bilingual UI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5715000"/>
            <a:ext cx="2743200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80">
                <a:solidFill>
                  <a:srgbClr val="0F172A"/>
                </a:solidFill>
              </a:defRPr>
            </a:pPr>
            <a:r>
              <a:t>Rural + Mandi FPO Friendly Practical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20116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10B981"/>
                </a:solidFill>
              </a:defRPr>
            </a:pPr>
            <a:r>
              <a:t>Evergreen</a:t>
            </a:r>
          </a:p>
          <a:p>
            <a:pPr algn="ctr">
              <a:defRPr b="1" sz="1200">
                <a:solidFill>
                  <a:srgbClr val="1E293B"/>
                </a:solidFill>
              </a:defRPr>
            </a:pPr>
            <a:r>
              <a:t>Team 161280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83D78"/>
                </a:solidFill>
              </a:defRPr>
            </a:pPr>
            <a:r>
              <a:t>RESEARCH, REFERENCES &amp; DEMO PLAN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AI-Based Intelligent Food Packaging Material Recommendation System • PS SIH26236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320040"/>
            <a:ext cx="155448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FUTURE SCOPE &amp; ADVANCED EXTENSIONS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1. National e-NAM Mandi Integration: </a:t>
            </a:r>
            <a:r>
              <a:rPr sz="819">
                <a:solidFill>
                  <a:srgbClr val="1E293B"/>
                </a:solidFill>
              </a:rPr>
              <a:t>Direct API integration with electronic mandis for automated packaging grading and instant transit passes.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2. IoT Telemetry &amp; Cold-Chain Sensors: </a:t>
            </a:r>
            <a:r>
              <a:rPr sz="819">
                <a:solidFill>
                  <a:srgbClr val="1E293B"/>
                </a:solidFill>
              </a:rPr>
              <a:t>Live RFID/BLE temperature &amp; RH data streams for real-time dynamic shelf-life decay updates.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3. Active &amp; Antimicrobial Bio-Films: </a:t>
            </a:r>
            <a:r>
              <a:rPr sz="819">
                <a:solidFill>
                  <a:srgbClr val="1E293B"/>
                </a:solidFill>
              </a:rPr>
              <a:t>Integration of natural nano-emulsion coatings (chitosan, thymol) to actively arrest fungal decay.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4. Converter Marketplace &amp; Procurement: </a:t>
            </a:r>
            <a:r>
              <a:rPr sz="819">
                <a:solidFill>
                  <a:srgbClr val="1E293B"/>
                </a:solidFill>
              </a:rPr>
              <a:t>Direct B2B digital gateway connecting FPOs directly with verified sustainable film converters.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5. Offline Progressive Web App (PWA): </a:t>
            </a:r>
            <a:r>
              <a:rPr sz="819">
                <a:solidFill>
                  <a:srgbClr val="1E293B"/>
                </a:solidFill>
              </a:rPr>
              <a:t>Zero-connectivity Service Worker caching for seamless use in remote rural mandis.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6. AI Computer Vision Ripeness Grading: </a:t>
            </a:r>
            <a:r>
              <a:rPr sz="819">
                <a:solidFill>
                  <a:srgbClr val="1E293B"/>
                </a:solidFill>
              </a:rPr>
              <a:t>Camera-based maturity &amp; blemish detection prior to barrier film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234440"/>
            <a:ext cx="5699455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83D78"/>
                </a:solidFill>
              </a:defRPr>
            </a:pPr>
            <a:r>
              <a:t>OFFICIAL GOVERNMENT &amp; SCIENTIFIC SOURCES (VERIFIED PORTALS)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FSSAI [fssai.gov.in]: </a:t>
            </a:r>
            <a:r>
              <a:rPr sz="819">
                <a:solidFill>
                  <a:srgbClr val="1E293B"/>
                </a:solidFill>
              </a:rPr>
              <a:t>Packaging Reg. 2018 &amp; Overall Migration Limits (IS 9845:2020)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BIS [bis.gov.in]: </a:t>
            </a:r>
            <a:r>
              <a:rPr sz="819">
                <a:solidFill>
                  <a:srgbClr val="1E293B"/>
                </a:solidFill>
              </a:rPr>
              <a:t>Indian Standards: IS 10146 (PE food contact), IS 12252 (PET), IS 15495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APEDA [apeda.gov.in]: </a:t>
            </a:r>
            <a:r>
              <a:rPr sz="819">
                <a:solidFill>
                  <a:srgbClr val="1E293B"/>
                </a:solidFill>
              </a:rPr>
              <a:t>Fresh produce export packaging standards &amp; cold-chain phytosanitary norms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IIP [iip-in.com]: </a:t>
            </a:r>
            <a:r>
              <a:rPr sz="819">
                <a:solidFill>
                  <a:srgbClr val="1E293B"/>
                </a:solidFill>
              </a:rPr>
              <a:t>Indian Institute of Packaging (ASTM D3985 OTR &amp; ASTM F1249 WVTR)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ICAR-CIPHET [ciphet.icar.gov.in]: </a:t>
            </a:r>
            <a:r>
              <a:rPr sz="819">
                <a:solidFill>
                  <a:srgbClr val="1E293B"/>
                </a:solidFill>
              </a:rPr>
              <a:t>Post-harvest loss statistics &amp; crop respiration rates (RO2/RCO2)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MoFPI [mofpi.gov.in]: </a:t>
            </a:r>
            <a:r>
              <a:rPr sz="819">
                <a:solidFill>
                  <a:srgbClr val="1E293B"/>
                </a:solidFill>
              </a:rPr>
              <a:t>Ministry of Food Processing Industries cold-chain cluster schemes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USDA FoodData [fdc.nal.usda.gov]: </a:t>
            </a:r>
            <a:r>
              <a:rPr sz="819">
                <a:solidFill>
                  <a:srgbClr val="1E293B"/>
                </a:solidFill>
              </a:rPr>
              <a:t>Crop baseline composition dataset (moisture %, Aw, lipids, pH)</a:t>
            </a:r>
          </a:p>
          <a:p>
            <a:pPr>
              <a:spcAft>
                <a:spcPts val="200"/>
              </a:spcAft>
            </a:pPr>
            <a:r>
              <a:rPr b="1" sz="819">
                <a:solidFill>
                  <a:srgbClr val="0F172A"/>
                </a:solidFill>
              </a:rPr>
              <a:t>• CPCB (MoEFCC) [cpcb.nic.in]: </a:t>
            </a:r>
            <a:r>
              <a:rPr sz="819">
                <a:solidFill>
                  <a:srgbClr val="1E293B"/>
                </a:solidFill>
              </a:rPr>
              <a:t>Plastic Waste Management Rules 2022 &amp; Compostable IS/ISO 17088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92040"/>
            <a:ext cx="11277295" cy="36576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50">
                <a:solidFill>
                  <a:srgbClr val="FFFFFF"/>
                </a:solidFill>
              </a:defRPr>
            </a:pPr>
            <a:r>
              <a:t>EVIDENCE DISCIPLINE — ZERO FABRICATED SYNTHETIC VALUES: Official / Verified • Authoritative Research • Derived Physics • Statutory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183D78"/>
                </a:solidFill>
              </a:defRPr>
            </a:pPr>
            <a:r>
              <a:t>PROTOTYPE DEMO PLAN — WHAT WE WILL DEMONSTRATE IN EVALUATION (TESTED &amp; WORKING)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27432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1. Live 100-Crop Search &amp; Camera Scan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Real-time edge YOLOv8 + NVIDIA NIM Vision crop scanner with auto-detection.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5669280"/>
            <a:ext cx="27432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2. Mass-Transfer &amp; Respiration Solver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Live Tetens equation vapor pressure &amp; Arrhenius Michaelis-Menten respiration flux.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669280"/>
            <a:ext cx="27432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3. Quantum 3D TOPSIS &amp; Three.js Lab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Interactive 3D multi-layer film digital twin with layer exploding &amp; MCDM sliders.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5669280"/>
            <a:ext cx="2743200" cy="868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900">
                <a:solidFill>
                  <a:srgbClr val="0F172A"/>
                </a:solidFill>
              </a:defRPr>
            </a:pPr>
            <a:r>
              <a:t>4. Bilingual Voice AI &amp; FSSAI QR Pass</a:t>
            </a:r>
          </a:p>
          <a:p>
            <a:pPr>
              <a:spcBef>
                <a:spcPts val="200"/>
              </a:spcBef>
              <a:defRPr sz="780">
                <a:solidFill>
                  <a:srgbClr val="1E293B"/>
                </a:solidFill>
              </a:defRPr>
            </a:pPr>
            <a:r>
              <a:t>Vaani Hindi/English voice copilot, Farmer Aasaan mode &amp; instant batch QR report.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